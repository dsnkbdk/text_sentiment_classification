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64" r:id="rId2"/>
    <p:sldId id="266" r:id="rId3"/>
    <p:sldId id="267" r:id="rId4"/>
    <p:sldId id="271" r:id="rId5"/>
    <p:sldId id="272" r:id="rId6"/>
    <p:sldId id="286" r:id="rId7"/>
    <p:sldId id="285" r:id="rId8"/>
    <p:sldId id="288" r:id="rId9"/>
    <p:sldId id="273" r:id="rId10"/>
    <p:sldId id="274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7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7192"/>
    <a:srgbClr val="2F0C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12"/>
    <p:restoredTop sz="88996"/>
  </p:normalViewPr>
  <p:slideViewPr>
    <p:cSldViewPr snapToGrid="0" snapToObjects="1">
      <p:cViewPr varScale="1">
        <p:scale>
          <a:sx n="197" d="100"/>
          <a:sy n="197" d="100"/>
        </p:scale>
        <p:origin x="248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C30302-D39B-4F4F-A366-63E013E1F61D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3C2DB-22DE-6B44-B794-C0EA12842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054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3C2DB-22DE-6B44-B794-C0EA128421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647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16F92-92D2-D380-4F6C-9DD46856A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56F401-8490-063C-F25E-3C2E79C19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A7686B-F3AA-66D9-0725-CD22A6CD6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50D95-E4CF-98FA-2B76-37FCC36866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3C2DB-22DE-6B44-B794-C0EA1284210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570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3C2DB-22DE-6B44-B794-C0EA1284210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015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5DA73-1DA6-30B9-920B-4A39BE0E0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F0C9D"/>
                </a:solidFill>
              </a:rPr>
              <a:t>Text Sentiment Classification Pipeline</a:t>
            </a:r>
            <a:endParaRPr lang="en-US" dirty="0">
              <a:solidFill>
                <a:srgbClr val="2F0C9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541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53A73-5F82-6976-5B9B-2FCA2C61B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F0C9D"/>
                </a:solidFill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761EF-87B6-0BAF-4DB5-1DCD5B2AC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E37192"/>
                </a:solidFill>
              </a:rPr>
              <a:t>Build an end-to-end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E37192"/>
                </a:solidFill>
              </a:rPr>
              <a:t>			machine learning pipeline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E37192"/>
                </a:solidFill>
              </a:rPr>
              <a:t>						for text sentiment classification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E37192"/>
                </a:solidFill>
              </a:rPr>
              <a:t>													 (Crypto News)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2F0C9D"/>
                </a:solidFill>
              </a:rPr>
              <a:t>Decomposition</a:t>
            </a:r>
          </a:p>
          <a:p>
            <a:r>
              <a:rPr lang="en-US" sz="2400" dirty="0"/>
              <a:t>end-to-end</a:t>
            </a:r>
            <a:r>
              <a:rPr lang="zh-CN" altLang="en-US" sz="2400" dirty="0"/>
              <a:t> </a:t>
            </a:r>
            <a:r>
              <a:rPr lang="en-US" sz="2400" dirty="0"/>
              <a:t>pipeline</a:t>
            </a:r>
          </a:p>
          <a:p>
            <a:pPr lvl="1"/>
            <a:r>
              <a:rPr lang="en-US" sz="1500" dirty="0"/>
              <a:t>Raw Data, Data Engineering, Modeling, Orchestration, Deployment, Serving, Visualization</a:t>
            </a:r>
          </a:p>
          <a:p>
            <a:r>
              <a:rPr lang="en-US" sz="2400" dirty="0"/>
              <a:t>machine learning</a:t>
            </a:r>
          </a:p>
          <a:p>
            <a:pPr lvl="1"/>
            <a:r>
              <a:rPr lang="en-US" sz="1500" dirty="0"/>
              <a:t>Machine Learning, Deep Learning, LLM</a:t>
            </a:r>
          </a:p>
          <a:p>
            <a:r>
              <a:rPr lang="en-US" sz="2400" dirty="0"/>
              <a:t>text sentiment classification</a:t>
            </a:r>
          </a:p>
          <a:p>
            <a:pPr lvl="1"/>
            <a:r>
              <a:rPr lang="en-US" sz="1500" dirty="0"/>
              <a:t>Classification Problem, Supervised Learning, Unsupervised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65928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B450-5CD3-7EE1-EADC-6463D5C87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F0C9D"/>
                </a:solidFill>
              </a:rPr>
              <a:t>CONSULTANT PERSPECTIVE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D609C-553A-108E-C73B-0EB72CEE3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F0C9D"/>
                </a:solidFill>
              </a:rPr>
              <a:t>Problems and Assumptions I</a:t>
            </a:r>
          </a:p>
          <a:p>
            <a:pPr marL="0" indent="0">
              <a:buNone/>
            </a:pPr>
            <a:endParaRPr lang="en-US" sz="2400" b="1" dirty="0"/>
          </a:p>
          <a:p>
            <a:r>
              <a:rPr lang="en-US" sz="2400" dirty="0">
                <a:solidFill>
                  <a:srgbClr val="E37192"/>
                </a:solidFill>
              </a:rPr>
              <a:t>Business</a:t>
            </a:r>
            <a:r>
              <a:rPr lang="en-US" sz="2400" dirty="0"/>
              <a:t> Perspective</a:t>
            </a:r>
          </a:p>
          <a:p>
            <a:pPr lvl="1"/>
            <a:r>
              <a:rPr lang="en-US" sz="1600" dirty="0"/>
              <a:t>Cryptocurrency news</a:t>
            </a:r>
          </a:p>
          <a:p>
            <a:pPr lvl="1"/>
            <a:r>
              <a:rPr lang="en-US" sz="1600" dirty="0"/>
              <a:t>Sentiment analysis</a:t>
            </a:r>
          </a:p>
          <a:p>
            <a:pPr lvl="1"/>
            <a:r>
              <a:rPr lang="en-US" sz="1600" dirty="0"/>
              <a:t>Data-driven trading decisions</a:t>
            </a:r>
          </a:p>
          <a:p>
            <a:r>
              <a:rPr lang="en-US" sz="2400" dirty="0"/>
              <a:t>Challenges</a:t>
            </a:r>
          </a:p>
          <a:p>
            <a:pPr lvl="1"/>
            <a:r>
              <a:rPr lang="en-US" sz="1600" dirty="0"/>
              <a:t>Crypto news is high-volume and unstructured</a:t>
            </a:r>
          </a:p>
          <a:p>
            <a:pPr lvl="1"/>
            <a:r>
              <a:rPr lang="en-US" sz="1600" dirty="0"/>
              <a:t>Stakeholders struggle to quantify market sentiment</a:t>
            </a:r>
          </a:p>
        </p:txBody>
      </p:sp>
    </p:spTree>
    <p:extLst>
      <p:ext uri="{BB962C8B-B14F-4D97-AF65-F5344CB8AC3E}">
        <p14:creationId xmlns:p14="http://schemas.microsoft.com/office/powerpoint/2010/main" val="3946791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AD2A8-802B-8652-B3BB-3E9210E72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DF958-02A8-0E01-1C16-99941DA14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F0C9D"/>
                </a:solidFill>
              </a:rPr>
              <a:t>CONSULTANT PERSPECTIVE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71DA5-4EF7-6F7E-64DE-D90A17451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F0C9D"/>
                </a:solidFill>
              </a:rPr>
              <a:t>Problems and Assumptions II</a:t>
            </a:r>
          </a:p>
          <a:p>
            <a:pPr marL="0" indent="0">
              <a:buNone/>
            </a:pPr>
            <a:endParaRPr lang="en-US" sz="2400" b="1" dirty="0"/>
          </a:p>
          <a:p>
            <a:r>
              <a:rPr lang="en-US" sz="2400" dirty="0">
                <a:solidFill>
                  <a:srgbClr val="E37192"/>
                </a:solidFill>
              </a:rPr>
              <a:t>Technical</a:t>
            </a:r>
            <a:r>
              <a:rPr lang="en-US" sz="2400" dirty="0"/>
              <a:t> perspective</a:t>
            </a:r>
          </a:p>
          <a:p>
            <a:pPr lvl="1"/>
            <a:r>
              <a:rPr lang="en-US" sz="1600" b="1" dirty="0"/>
              <a:t>Data: </a:t>
            </a:r>
            <a:r>
              <a:rPr lang="en-US" sz="1600" dirty="0"/>
              <a:t>quality, types, structures, distribution, lifecycle</a:t>
            </a:r>
          </a:p>
          <a:p>
            <a:pPr lvl="1"/>
            <a:r>
              <a:rPr lang="en-US" sz="1600" b="1" dirty="0"/>
              <a:t>Model:</a:t>
            </a:r>
            <a:r>
              <a:rPr lang="zh-CN" altLang="en-US" sz="1600" dirty="0"/>
              <a:t> </a:t>
            </a:r>
            <a:r>
              <a:rPr lang="en-US" altLang="zh-CN" sz="1600" dirty="0"/>
              <a:t>accuracy, interpretability, scalability, rapid deployment, cost, lifecycle</a:t>
            </a:r>
          </a:p>
          <a:p>
            <a:pPr lvl="1"/>
            <a:r>
              <a:rPr lang="en-US" sz="1600" b="1" dirty="0"/>
              <a:t>Hosting and Serving:</a:t>
            </a:r>
            <a:r>
              <a:rPr lang="zh-CN" altLang="en-US" sz="1600" dirty="0"/>
              <a:t> </a:t>
            </a:r>
            <a:r>
              <a:rPr lang="en-US" altLang="zh-CN" sz="1600" dirty="0"/>
              <a:t>local, cloud, platform, tool</a:t>
            </a:r>
          </a:p>
          <a:p>
            <a:pPr lvl="1"/>
            <a:r>
              <a:rPr lang="en-US" sz="1600" b="1" dirty="0"/>
              <a:t>Visualization: </a:t>
            </a:r>
            <a:r>
              <a:rPr lang="en-US" sz="1600" dirty="0"/>
              <a:t>tools, compatibility, scalability, and rapid implementation</a:t>
            </a:r>
          </a:p>
          <a:p>
            <a:r>
              <a:rPr lang="en-US" sz="2400" dirty="0"/>
              <a:t>Challenges</a:t>
            </a:r>
          </a:p>
          <a:p>
            <a:pPr lvl="1"/>
            <a:r>
              <a:rPr lang="en-US" sz="1600" dirty="0"/>
              <a:t>Trade-offs between time, cost, and quality</a:t>
            </a:r>
          </a:p>
        </p:txBody>
      </p:sp>
    </p:spTree>
    <p:extLst>
      <p:ext uri="{BB962C8B-B14F-4D97-AF65-F5344CB8AC3E}">
        <p14:creationId xmlns:p14="http://schemas.microsoft.com/office/powerpoint/2010/main" val="4092313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C904F-DBC4-54DC-0477-CCA82789A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34ADD-B1A0-EF8B-7CBA-E7EE380EF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F0C9D"/>
                </a:solidFill>
              </a:rPr>
              <a:t>CONSULTANT PERSPECTIVE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FB96F-E670-12C4-CECD-5F795BB53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F0C9D"/>
                </a:solidFill>
              </a:rPr>
              <a:t>Problems and Assumptions III</a:t>
            </a:r>
          </a:p>
          <a:p>
            <a:pPr marL="0" indent="0">
              <a:buNone/>
            </a:pPr>
            <a:endParaRPr lang="en-US" sz="2400" b="1" dirty="0"/>
          </a:p>
          <a:p>
            <a:r>
              <a:rPr lang="en-US" sz="2400" dirty="0">
                <a:solidFill>
                  <a:srgbClr val="E37192"/>
                </a:solidFill>
              </a:rPr>
              <a:t>Analytical</a:t>
            </a:r>
            <a:r>
              <a:rPr lang="en-US" sz="2400" dirty="0"/>
              <a:t> perspective</a:t>
            </a:r>
          </a:p>
          <a:p>
            <a:pPr lvl="1"/>
            <a:r>
              <a:rPr lang="en-US" sz="1600" dirty="0"/>
              <a:t>Crypto market sentiment trends?</a:t>
            </a:r>
          </a:p>
          <a:p>
            <a:pPr lvl="1"/>
            <a:r>
              <a:rPr lang="en-US" sz="1600" dirty="0"/>
              <a:t>Are there sentiment shifts by cryptocurrency?</a:t>
            </a:r>
            <a:endParaRPr lang="en-US" altLang="zh-CN" sz="1600" dirty="0"/>
          </a:p>
          <a:p>
            <a:pPr lvl="1"/>
            <a:r>
              <a:rPr lang="en-US" sz="1600" dirty="0"/>
              <a:t>Do different news sources show systematic bias?</a:t>
            </a:r>
            <a:endParaRPr lang="en-US" altLang="zh-CN" sz="1600" dirty="0"/>
          </a:p>
          <a:p>
            <a:r>
              <a:rPr lang="en-US" sz="2400" dirty="0"/>
              <a:t>Challenges</a:t>
            </a:r>
          </a:p>
          <a:p>
            <a:pPr lvl="1"/>
            <a:r>
              <a:rPr lang="en-US" sz="1600" dirty="0"/>
              <a:t>Gain meaningful insights from multiple dimensions and multiple granularities</a:t>
            </a:r>
          </a:p>
        </p:txBody>
      </p:sp>
    </p:spTree>
    <p:extLst>
      <p:ext uri="{BB962C8B-B14F-4D97-AF65-F5344CB8AC3E}">
        <p14:creationId xmlns:p14="http://schemas.microsoft.com/office/powerpoint/2010/main" val="917024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45B59-EEFD-153D-2ECB-D486BA1AA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F6267-0CA5-978E-35DF-0217AFF31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F0C9D"/>
                </a:solidFill>
              </a:rPr>
              <a:t>Architecture</a:t>
            </a:r>
            <a:r>
              <a:rPr lang="zh-CN" altLang="en-US" b="1" dirty="0">
                <a:solidFill>
                  <a:srgbClr val="2F0C9D"/>
                </a:solidFill>
              </a:rPr>
              <a:t> </a:t>
            </a:r>
            <a:r>
              <a:rPr lang="en-US" b="1" dirty="0">
                <a:solidFill>
                  <a:srgbClr val="2F0C9D"/>
                </a:solidFill>
              </a:rPr>
              <a:t>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8332A-2725-191C-EF08-D4B5BA23E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b="1" dirty="0"/>
              <a:t>Pipeline</a:t>
            </a:r>
          </a:p>
          <a:p>
            <a:pPr lvl="1"/>
            <a:r>
              <a:rPr lang="en-US" sz="1600" dirty="0"/>
              <a:t>Data Ingestion</a:t>
            </a:r>
          </a:p>
          <a:p>
            <a:pPr lvl="1"/>
            <a:r>
              <a:rPr lang="en-US" sz="1600" dirty="0"/>
              <a:t>Data Preprocessing</a:t>
            </a:r>
          </a:p>
          <a:p>
            <a:pPr lvl="2"/>
            <a:r>
              <a:rPr lang="en-US" sz="1600" dirty="0"/>
              <a:t>Cleansing</a:t>
            </a:r>
          </a:p>
          <a:p>
            <a:pPr lvl="2"/>
            <a:r>
              <a:rPr lang="en-US" sz="1600" dirty="0"/>
              <a:t>Feature Engineering</a:t>
            </a:r>
          </a:p>
          <a:p>
            <a:pPr lvl="1"/>
            <a:r>
              <a:rPr lang="en-US" sz="1600" dirty="0"/>
              <a:t>Modeling</a:t>
            </a:r>
            <a:r>
              <a:rPr lang="zh-CN" altLang="en-US" sz="1600" dirty="0"/>
              <a:t> </a:t>
            </a:r>
            <a:r>
              <a:rPr lang="en-US" altLang="zh-CN" sz="1600" dirty="0"/>
              <a:t>&amp;</a:t>
            </a:r>
            <a:r>
              <a:rPr lang="zh-CN" altLang="en-US" sz="1600" dirty="0"/>
              <a:t> </a:t>
            </a:r>
            <a:r>
              <a:rPr lang="en-US" sz="1600" dirty="0"/>
              <a:t>Model Selection</a:t>
            </a:r>
          </a:p>
          <a:p>
            <a:pPr lvl="1"/>
            <a:r>
              <a:rPr lang="en-US" sz="1600" dirty="0"/>
              <a:t>Model Tracking and Management</a:t>
            </a:r>
          </a:p>
          <a:p>
            <a:pPr lvl="1"/>
            <a:r>
              <a:rPr lang="en-US" sz="1600" dirty="0"/>
              <a:t>Hosting</a:t>
            </a:r>
          </a:p>
          <a:p>
            <a:pPr lvl="1"/>
            <a:r>
              <a:rPr lang="en-US" sz="1600" dirty="0"/>
              <a:t>Serving</a:t>
            </a:r>
          </a:p>
          <a:p>
            <a:pPr lvl="1"/>
            <a:r>
              <a:rPr lang="en-US" sz="1600" dirty="0"/>
              <a:t>Visualization</a:t>
            </a:r>
          </a:p>
          <a:p>
            <a:r>
              <a:rPr lang="en-US" sz="2400" b="1" dirty="0"/>
              <a:t>High standards</a:t>
            </a:r>
          </a:p>
          <a:p>
            <a:pPr lvl="1"/>
            <a:r>
              <a:rPr lang="en-US" sz="1600" dirty="0"/>
              <a:t>Modular and extensible pipeline</a:t>
            </a:r>
          </a:p>
          <a:p>
            <a:pPr lvl="1"/>
            <a:r>
              <a:rPr lang="en-US" sz="1600" dirty="0"/>
              <a:t>Clear separation of concerns</a:t>
            </a:r>
          </a:p>
          <a:p>
            <a:pPr lvl="1"/>
            <a:r>
              <a:rPr lang="en-US" sz="1600" dirty="0"/>
              <a:t>Single orchestration entry point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34232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5FC7C-2C78-947A-D79B-DFA961448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3A85F-D691-18FD-7F8E-A0AD4AFF9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F0C9D"/>
                </a:solidFill>
              </a:rPr>
              <a:t>Architecture</a:t>
            </a:r>
            <a:r>
              <a:rPr lang="zh-CN" altLang="en-US" b="1" dirty="0">
                <a:solidFill>
                  <a:srgbClr val="2F0C9D"/>
                </a:solidFill>
              </a:rPr>
              <a:t> </a:t>
            </a:r>
            <a:r>
              <a:rPr lang="en-US" b="1" dirty="0">
                <a:solidFill>
                  <a:srgbClr val="2F0C9D"/>
                </a:solidFill>
              </a:rPr>
              <a:t>Design</a:t>
            </a:r>
          </a:p>
        </p:txBody>
      </p:sp>
      <p:pic>
        <p:nvPicPr>
          <p:cNvPr id="6" name="Content Placeholder 5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CA895B95-C0E4-9E8E-8342-764476C9CA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0823" y="1269000"/>
            <a:ext cx="5082353" cy="4320000"/>
          </a:xfrm>
        </p:spPr>
      </p:pic>
    </p:spTree>
    <p:extLst>
      <p:ext uri="{BB962C8B-B14F-4D97-AF65-F5344CB8AC3E}">
        <p14:creationId xmlns:p14="http://schemas.microsoft.com/office/powerpoint/2010/main" val="3127004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F0CB6-675A-3070-FA33-7CF101F3D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90A6D-0281-F38E-7DAA-E6DBE0732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F0C9D"/>
                </a:solidFill>
              </a:rPr>
              <a:t>Project Structure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1BAA088-D933-E1A0-1273-72F1C32730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3057" y="1417638"/>
            <a:ext cx="6257885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147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1E3AA-EF9E-6103-C323-6A1372FE7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8F5E4-D042-5CD7-3E8B-DB0FC5D18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F0C9D"/>
                </a:solidFill>
              </a:rPr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32BFB-62D0-6F42-5E92-39035D7E0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b="1" dirty="0">
                <a:solidFill>
                  <a:srgbClr val="2F0C9D"/>
                </a:solidFill>
              </a:rPr>
              <a:t>Crypto News CSV</a:t>
            </a:r>
            <a:r>
              <a:rPr lang="zh-CN" altLang="en-US" sz="2400" b="1" dirty="0">
                <a:solidFill>
                  <a:srgbClr val="2F0C9D"/>
                </a:solidFill>
              </a:rPr>
              <a:t> </a:t>
            </a:r>
            <a:r>
              <a:rPr lang="en-US" sz="2400" b="1" dirty="0">
                <a:solidFill>
                  <a:srgbClr val="2F0C9D"/>
                </a:solidFill>
              </a:rPr>
              <a:t>dataset</a:t>
            </a:r>
          </a:p>
          <a:p>
            <a:r>
              <a:rPr lang="en-US" sz="2400" b="1" dirty="0">
                <a:solidFill>
                  <a:srgbClr val="2F0C9D"/>
                </a:solidFill>
              </a:rPr>
              <a:t>Exploratory data analysis</a:t>
            </a:r>
          </a:p>
          <a:p>
            <a:pPr lvl="1"/>
            <a:r>
              <a:rPr lang="en-US" sz="1600" dirty="0"/>
              <a:t>Data understanding</a:t>
            </a:r>
          </a:p>
          <a:p>
            <a:pPr lvl="1"/>
            <a:r>
              <a:rPr lang="en-US" sz="1600" dirty="0"/>
              <a:t>Data preprocessing</a:t>
            </a:r>
          </a:p>
          <a:p>
            <a:pPr lvl="1"/>
            <a:r>
              <a:rPr lang="en-US" sz="1600" dirty="0"/>
              <a:t>Feature engineering</a:t>
            </a:r>
          </a:p>
          <a:p>
            <a:pPr lvl="1"/>
            <a:r>
              <a:rPr lang="en-US" sz="1600" dirty="0"/>
              <a:t>Imbalanced distribution</a:t>
            </a:r>
          </a:p>
          <a:p>
            <a:r>
              <a:rPr lang="en-US" sz="2400" b="1" dirty="0">
                <a:solidFill>
                  <a:srgbClr val="2F0C9D"/>
                </a:solidFill>
              </a:rPr>
              <a:t>Class Imbalance Handling</a:t>
            </a:r>
          </a:p>
          <a:p>
            <a:pPr lvl="1"/>
            <a:r>
              <a:rPr lang="en-US" sz="1600" dirty="0"/>
              <a:t>Moderate class imbalance</a:t>
            </a:r>
          </a:p>
          <a:p>
            <a:pPr lvl="1"/>
            <a:r>
              <a:rPr lang="en-US" sz="1600" dirty="0"/>
              <a:t>Stratified splitting</a:t>
            </a:r>
          </a:p>
          <a:p>
            <a:pPr lvl="1"/>
            <a:r>
              <a:rPr lang="en-US" sz="1600" dirty="0"/>
              <a:t>Class-weighted Logistic Regression</a:t>
            </a:r>
          </a:p>
          <a:p>
            <a:pPr lvl="1"/>
            <a:r>
              <a:rPr lang="en-US" sz="1600" dirty="0"/>
              <a:t>Macro-averaged evaluation</a:t>
            </a:r>
          </a:p>
          <a:p>
            <a:r>
              <a:rPr lang="en-US" sz="2400" b="1" dirty="0">
                <a:solidFill>
                  <a:srgbClr val="2F0C9D"/>
                </a:solidFill>
              </a:rPr>
              <a:t>Data-driven modelling strategy</a:t>
            </a:r>
          </a:p>
        </p:txBody>
      </p:sp>
    </p:spTree>
    <p:extLst>
      <p:ext uri="{BB962C8B-B14F-4D97-AF65-F5344CB8AC3E}">
        <p14:creationId xmlns:p14="http://schemas.microsoft.com/office/powerpoint/2010/main" val="2837791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54AFD-5C69-6F3C-FDC5-7EB16EBCF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E3D1-2FD6-1413-0147-E666DBB35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F0C9D"/>
                </a:solidFill>
              </a:rPr>
              <a:t>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CCF2A-AA79-D657-FB8A-A8B972FCF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rgbClr val="2F0C9D"/>
                </a:solidFill>
              </a:rPr>
              <a:t>Rapid prototyping strategy </a:t>
            </a:r>
          </a:p>
          <a:p>
            <a:pPr lvl="1"/>
            <a:r>
              <a:rPr lang="en-US" sz="1600" dirty="0"/>
              <a:t>Multi-class classification: negative / neutral / positive</a:t>
            </a:r>
          </a:p>
          <a:p>
            <a:pPr lvl="1"/>
            <a:r>
              <a:rPr lang="en-US" altLang="zh-CN" sz="1600" dirty="0"/>
              <a:t>30k+ rows</a:t>
            </a:r>
            <a:endParaRPr lang="en-US" sz="1600" dirty="0"/>
          </a:p>
          <a:p>
            <a:pPr lvl="1"/>
            <a:r>
              <a:rPr lang="en-US" sz="1600" dirty="0"/>
              <a:t>X = title + text, y = class (label)</a:t>
            </a:r>
          </a:p>
          <a:p>
            <a:pPr lvl="1"/>
            <a:r>
              <a:rPr lang="en-US" sz="1600" dirty="0"/>
              <a:t>Low cost, high interpretability</a:t>
            </a:r>
          </a:p>
          <a:p>
            <a:r>
              <a:rPr lang="en-US" sz="2400" b="1" dirty="0">
                <a:solidFill>
                  <a:srgbClr val="2F0C9D"/>
                </a:solidFill>
              </a:rPr>
              <a:t>Traditional ML as the baseline</a:t>
            </a:r>
          </a:p>
          <a:p>
            <a:r>
              <a:rPr lang="en-US" sz="2400" b="1" dirty="0">
                <a:solidFill>
                  <a:srgbClr val="2F0C9D"/>
                </a:solidFill>
              </a:rPr>
              <a:t>Open-source LLM (pre-trained model) if time permits</a:t>
            </a:r>
          </a:p>
          <a:p>
            <a:r>
              <a:rPr lang="en-US" sz="2400" b="1" dirty="0">
                <a:solidFill>
                  <a:srgbClr val="2F0C9D"/>
                </a:solidFill>
              </a:rPr>
              <a:t>Production-level delivery</a:t>
            </a:r>
          </a:p>
        </p:txBody>
      </p:sp>
    </p:spTree>
    <p:extLst>
      <p:ext uri="{BB962C8B-B14F-4D97-AF65-F5344CB8AC3E}">
        <p14:creationId xmlns:p14="http://schemas.microsoft.com/office/powerpoint/2010/main" val="1835403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EEC3F-C436-3173-0DDF-F306BC554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B44B3-D80D-59CE-B60A-3F2E7C8D5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F0C9D"/>
                </a:solidFill>
              </a:rPr>
              <a:t>Traditional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C491F-C28E-188B-2A75-50D7D9A05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TF-IDF feature extraction </a:t>
            </a:r>
          </a:p>
          <a:p>
            <a:r>
              <a:rPr lang="en-US" sz="2400" b="1" dirty="0"/>
              <a:t>Logistic Regression</a:t>
            </a:r>
          </a:p>
          <a:p>
            <a:r>
              <a:rPr lang="en-US" sz="2400" b="1" dirty="0" err="1"/>
              <a:t>GridSearchCV</a:t>
            </a:r>
            <a:r>
              <a:rPr lang="en-US" sz="2400" b="1" dirty="0"/>
              <a:t> for tuning</a:t>
            </a:r>
          </a:p>
          <a:p>
            <a:r>
              <a:rPr lang="en-US" sz="2400" b="1" dirty="0" err="1"/>
              <a:t>Sklearn</a:t>
            </a:r>
            <a:r>
              <a:rPr lang="en-US" sz="2400" b="1" dirty="0"/>
              <a:t> has a built-in training pipeline</a:t>
            </a:r>
          </a:p>
        </p:txBody>
      </p:sp>
    </p:spTree>
    <p:extLst>
      <p:ext uri="{BB962C8B-B14F-4D97-AF65-F5344CB8AC3E}">
        <p14:creationId xmlns:p14="http://schemas.microsoft.com/office/powerpoint/2010/main" val="591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68C8D-F46B-7D47-D30C-FBF54969E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9BEB6-30C5-555D-EA68-63E016C50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F0C9D"/>
                </a:solidFill>
              </a:rPr>
              <a:t>Open-source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E37A9-4659-046D-FA6F-CFDCA966B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Hugging Face sentiment pipeline </a:t>
            </a:r>
          </a:p>
          <a:p>
            <a:r>
              <a:rPr lang="en-US" sz="2400" b="1" dirty="0"/>
              <a:t>Quick build</a:t>
            </a:r>
          </a:p>
          <a:p>
            <a:r>
              <a:rPr lang="en-US" sz="2400" b="1" dirty="0"/>
              <a:t>Pre-trained model</a:t>
            </a:r>
          </a:p>
          <a:p>
            <a:r>
              <a:rPr lang="en-US" sz="2400" b="1" dirty="0"/>
              <a:t>Inference-only evaluation</a:t>
            </a:r>
          </a:p>
          <a:p>
            <a:r>
              <a:rPr lang="en-US" sz="2400" b="1" dirty="0"/>
              <a:t>Batch inference supported</a:t>
            </a:r>
          </a:p>
        </p:txBody>
      </p:sp>
    </p:spTree>
    <p:extLst>
      <p:ext uri="{BB962C8B-B14F-4D97-AF65-F5344CB8AC3E}">
        <p14:creationId xmlns:p14="http://schemas.microsoft.com/office/powerpoint/2010/main" val="2794641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2CBF8-AD4D-4C5D-A548-FBBA18803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BF540-0CC9-E3D5-83E5-40F9694BE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F0C9D"/>
                </a:solidFill>
              </a:rPr>
              <a:t>Model Comparison</a:t>
            </a:r>
          </a:p>
        </p:txBody>
      </p:sp>
      <p:pic>
        <p:nvPicPr>
          <p:cNvPr id="5" name="Content Placeholder 4" descr="A table with blue and white text&#10;&#10;AI-generated content may be incorrect.">
            <a:extLst>
              <a:ext uri="{FF2B5EF4-FFF2-40B4-BE49-F238E27FC236}">
                <a16:creationId xmlns:a16="http://schemas.microsoft.com/office/drawing/2014/main" id="{5352EDC4-4F2A-FFF3-32F4-D498A4FDCF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7528" y="1166018"/>
            <a:ext cx="6788944" cy="4525963"/>
          </a:xfrm>
        </p:spPr>
      </p:pic>
    </p:spTree>
    <p:extLst>
      <p:ext uri="{BB962C8B-B14F-4D97-AF65-F5344CB8AC3E}">
        <p14:creationId xmlns:p14="http://schemas.microsoft.com/office/powerpoint/2010/main" val="3579065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875C0-02E7-AB47-F8A8-5F8B5C636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F10FC-677C-04FE-B2B2-BB3BE2C5A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F0C9D"/>
                </a:solidFill>
              </a:rPr>
              <a:t>Evaluation Strategy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727D003-9872-8299-4C78-7993D1C7D6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7700" y="1417638"/>
            <a:ext cx="5308600" cy="23876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8E548A-DA3F-F98C-DC8E-7EAE1EFDFACE}"/>
              </a:ext>
            </a:extLst>
          </p:cNvPr>
          <p:cNvSpPr txBox="1">
            <a:spLocks/>
          </p:cNvSpPr>
          <p:nvPr/>
        </p:nvSpPr>
        <p:spPr>
          <a:xfrm>
            <a:off x="457200" y="3810204"/>
            <a:ext cx="8229600" cy="23209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rgbClr val="E37192"/>
                </a:solidFill>
              </a:rPr>
              <a:t>macro F1-score</a:t>
            </a:r>
            <a:r>
              <a:rPr lang="en-US" sz="1600" b="1" dirty="0"/>
              <a:t> for imbalanced data </a:t>
            </a:r>
          </a:p>
          <a:p>
            <a:pPr lvl="1"/>
            <a:r>
              <a:rPr lang="en-US" sz="1200" b="1" dirty="0"/>
              <a:t>Accuracy</a:t>
            </a:r>
            <a:r>
              <a:rPr lang="en-US" sz="1200" dirty="0"/>
              <a:t> can be misleading. It is dominated by the majority classes.</a:t>
            </a:r>
          </a:p>
          <a:p>
            <a:pPr lvl="1"/>
            <a:r>
              <a:rPr lang="en-US" sz="1200" dirty="0"/>
              <a:t>High </a:t>
            </a:r>
            <a:r>
              <a:rPr lang="en-US" sz="1200" b="1" dirty="0"/>
              <a:t>precision</a:t>
            </a:r>
            <a:r>
              <a:rPr lang="en-US" sz="1200" dirty="0"/>
              <a:t> may result from conservative predictions</a:t>
            </a:r>
          </a:p>
          <a:p>
            <a:pPr lvl="1"/>
            <a:r>
              <a:rPr lang="en-US" sz="1200" dirty="0"/>
              <a:t>High </a:t>
            </a:r>
            <a:r>
              <a:rPr lang="en-US" sz="1200" b="1" dirty="0"/>
              <a:t>recall</a:t>
            </a:r>
            <a:r>
              <a:rPr lang="en-US" sz="1200" dirty="0"/>
              <a:t> may come from over-predicting a class</a:t>
            </a:r>
          </a:p>
          <a:p>
            <a:pPr lvl="1"/>
            <a:r>
              <a:rPr lang="en-US" sz="1200" b="1" dirty="0"/>
              <a:t>Weighted F1</a:t>
            </a:r>
            <a:r>
              <a:rPr lang="en-US" sz="1200" dirty="0"/>
              <a:t> still favors majority classes</a:t>
            </a:r>
          </a:p>
          <a:p>
            <a:pPr lvl="1"/>
            <a:endParaRPr lang="en-US" sz="1200" dirty="0"/>
          </a:p>
          <a:p>
            <a:pPr lvl="1"/>
            <a:r>
              <a:rPr lang="en-US" sz="1200" b="1" dirty="0"/>
              <a:t>Macro F1</a:t>
            </a:r>
            <a:r>
              <a:rPr lang="en-US" sz="1200" dirty="0"/>
              <a:t> treats all classes equally</a:t>
            </a:r>
          </a:p>
          <a:p>
            <a:pPr lvl="1"/>
            <a:r>
              <a:rPr lang="en-US" sz="1200" dirty="0"/>
              <a:t>Each class contributes equally regardless of size</a:t>
            </a:r>
          </a:p>
          <a:p>
            <a:pPr lvl="1"/>
            <a:r>
              <a:rPr lang="en-US" sz="1200" dirty="0"/>
              <a:t>Prevents majority classes from masking minority-class errors</a:t>
            </a:r>
          </a:p>
        </p:txBody>
      </p:sp>
    </p:spTree>
    <p:extLst>
      <p:ext uri="{BB962C8B-B14F-4D97-AF65-F5344CB8AC3E}">
        <p14:creationId xmlns:p14="http://schemas.microsoft.com/office/powerpoint/2010/main" val="4111467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04BCE-04AF-5EC1-50BE-DFBA67857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61C89-D690-4A05-CA70-3D935A37B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F0C9D"/>
                </a:solidFill>
              </a:rPr>
              <a:t>MLOps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747DF-987E-FB9B-D774-CD122A229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rgbClr val="2F0C9D"/>
                </a:solidFill>
              </a:rPr>
              <a:t>Experiment Tracking</a:t>
            </a:r>
            <a:endParaRPr lang="en-US" sz="2400" b="1" dirty="0"/>
          </a:p>
          <a:p>
            <a:pPr lvl="1"/>
            <a:r>
              <a:rPr lang="en-US" sz="1600" dirty="0"/>
              <a:t>MLflow for experiments and artifacts</a:t>
            </a:r>
          </a:p>
          <a:p>
            <a:pPr lvl="1"/>
            <a:r>
              <a:rPr lang="en-US" sz="1600" dirty="0"/>
              <a:t>Reproducible runs</a:t>
            </a:r>
          </a:p>
          <a:p>
            <a:pPr lvl="1"/>
            <a:r>
              <a:rPr lang="en-US" sz="1600" dirty="0"/>
              <a:t>Model lineage tracking</a:t>
            </a:r>
          </a:p>
          <a:p>
            <a:r>
              <a:rPr lang="en-US" sz="2400" b="1" dirty="0">
                <a:solidFill>
                  <a:srgbClr val="2F0C9D"/>
                </a:solidFill>
              </a:rPr>
              <a:t>Model Registry &amp; Promotion</a:t>
            </a:r>
            <a:endParaRPr lang="en-US" sz="2400" b="1" dirty="0"/>
          </a:p>
          <a:p>
            <a:pPr lvl="1"/>
            <a:r>
              <a:rPr lang="en-US" sz="1600" dirty="0"/>
              <a:t>Best models registered</a:t>
            </a:r>
          </a:p>
          <a:p>
            <a:pPr lvl="1"/>
            <a:r>
              <a:rPr lang="en-US" sz="1600" dirty="0"/>
              <a:t>Automatic promotion to production alias</a:t>
            </a:r>
          </a:p>
          <a:p>
            <a:pPr lvl="1"/>
            <a:r>
              <a:rPr lang="en-US" sz="1600" dirty="0"/>
              <a:t>Metric-driven decisions</a:t>
            </a:r>
          </a:p>
        </p:txBody>
      </p:sp>
    </p:spTree>
    <p:extLst>
      <p:ext uri="{BB962C8B-B14F-4D97-AF65-F5344CB8AC3E}">
        <p14:creationId xmlns:p14="http://schemas.microsoft.com/office/powerpoint/2010/main" val="79672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FE833-132D-D912-22A8-A90F908B7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C65F6-4424-F5F5-AC28-6E2CD9688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F0C9D"/>
                </a:solidFill>
              </a:rPr>
              <a:t>Pipeline Orchestration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8FA92-7F7F-E9D0-2BF5-CD9216F6D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err="1">
                <a:solidFill>
                  <a:srgbClr val="2F0C9D"/>
                </a:solidFill>
              </a:rPr>
              <a:t>main.py</a:t>
            </a:r>
            <a:r>
              <a:rPr lang="en-US" sz="2400" b="1" dirty="0">
                <a:solidFill>
                  <a:srgbClr val="2F0C9D"/>
                </a:solidFill>
              </a:rPr>
              <a:t> as pipeline controller</a:t>
            </a:r>
          </a:p>
          <a:p>
            <a:r>
              <a:rPr lang="en-US" sz="2400" b="1" dirty="0">
                <a:solidFill>
                  <a:srgbClr val="2F0C9D"/>
                </a:solidFill>
              </a:rPr>
              <a:t>Mutually exclusive ML / LLM modes</a:t>
            </a:r>
          </a:p>
          <a:p>
            <a:r>
              <a:rPr lang="en-US" sz="2400" b="1" dirty="0">
                <a:solidFill>
                  <a:srgbClr val="2F0C9D"/>
                </a:solidFill>
              </a:rPr>
              <a:t>Shared data preparation logic</a:t>
            </a:r>
          </a:p>
        </p:txBody>
      </p:sp>
    </p:spTree>
    <p:extLst>
      <p:ext uri="{BB962C8B-B14F-4D97-AF65-F5344CB8AC3E}">
        <p14:creationId xmlns:p14="http://schemas.microsoft.com/office/powerpoint/2010/main" val="1420541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8AAD5-DF8C-4D77-DC19-76A0DF0C6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6E59E-E282-D827-AA73-9E5A2772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F0C9D"/>
                </a:solidFill>
              </a:rPr>
              <a:t>Model Serving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16F22-B7CD-36E4-2ED0-83A3AEA00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err="1">
                <a:solidFill>
                  <a:srgbClr val="2F0C9D"/>
                </a:solidFill>
              </a:rPr>
              <a:t>FastAPI</a:t>
            </a:r>
            <a:r>
              <a:rPr lang="en-US" sz="2400" b="1" dirty="0">
                <a:solidFill>
                  <a:srgbClr val="2F0C9D"/>
                </a:solidFill>
              </a:rPr>
              <a:t>-based local serving</a:t>
            </a:r>
          </a:p>
          <a:p>
            <a:r>
              <a:rPr lang="en-US" sz="2400" b="1" dirty="0">
                <a:solidFill>
                  <a:srgbClr val="2F0C9D"/>
                </a:solidFill>
              </a:rPr>
              <a:t>Health, status, and prediction endpoints</a:t>
            </a:r>
          </a:p>
          <a:p>
            <a:r>
              <a:rPr lang="en-US" sz="2400" b="1" dirty="0">
                <a:solidFill>
                  <a:srgbClr val="2F0C9D"/>
                </a:solidFill>
              </a:rPr>
              <a:t>Stateless inference service</a:t>
            </a:r>
          </a:p>
        </p:txBody>
      </p:sp>
    </p:spTree>
    <p:extLst>
      <p:ext uri="{BB962C8B-B14F-4D97-AF65-F5344CB8AC3E}">
        <p14:creationId xmlns:p14="http://schemas.microsoft.com/office/powerpoint/2010/main" val="2593669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3CE3E-7563-97BD-0E3E-9815A07EE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76A4C-66A7-972F-0E5F-7BD3B8F79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F0C9D"/>
                </a:solidFill>
              </a:rPr>
              <a:t>Visualization &amp;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4473F-B8D0-085A-B113-D66AFD4EE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err="1">
                <a:solidFill>
                  <a:srgbClr val="2F0C9D"/>
                </a:solidFill>
              </a:rPr>
              <a:t>Streamlit</a:t>
            </a:r>
            <a:r>
              <a:rPr lang="en-US" sz="2400" b="1" dirty="0">
                <a:solidFill>
                  <a:srgbClr val="2F0C9D"/>
                </a:solidFill>
              </a:rPr>
              <a:t> dashboards</a:t>
            </a:r>
          </a:p>
          <a:p>
            <a:r>
              <a:rPr lang="en-US" sz="2400" b="1" dirty="0">
                <a:solidFill>
                  <a:srgbClr val="2F0C9D"/>
                </a:solidFill>
              </a:rPr>
              <a:t>Sentiment trends and breakdowns</a:t>
            </a:r>
          </a:p>
          <a:p>
            <a:r>
              <a:rPr lang="en-US" sz="2400" b="1" dirty="0">
                <a:solidFill>
                  <a:srgbClr val="2F0C9D"/>
                </a:solidFill>
              </a:rPr>
              <a:t>Model comparison and latency insights</a:t>
            </a:r>
          </a:p>
        </p:txBody>
      </p:sp>
    </p:spTree>
    <p:extLst>
      <p:ext uri="{BB962C8B-B14F-4D97-AF65-F5344CB8AC3E}">
        <p14:creationId xmlns:p14="http://schemas.microsoft.com/office/powerpoint/2010/main" val="17496176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15B67-D169-FD4B-9569-3020BE69D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FB5E8-4510-15DD-A216-1030080C0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F0C9D"/>
                </a:solidFill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DA9E1-C8D5-10CD-C6F1-2CEEFE669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F0C9D"/>
                </a:solidFill>
              </a:rPr>
              <a:t>Due to time constraints: </a:t>
            </a:r>
          </a:p>
          <a:p>
            <a:r>
              <a:rPr lang="en-US" sz="1600" dirty="0"/>
              <a:t>No automated testing </a:t>
            </a:r>
          </a:p>
          <a:p>
            <a:r>
              <a:rPr lang="en-US" altLang="zh-CN" sz="1600" dirty="0"/>
              <a:t>Local-only deployment</a:t>
            </a:r>
          </a:p>
          <a:p>
            <a:r>
              <a:rPr lang="en-US" sz="1600" dirty="0"/>
              <a:t>No domain-specific fine-tuning</a:t>
            </a:r>
          </a:p>
          <a:p>
            <a:r>
              <a:rPr lang="en-US" sz="1600" dirty="0"/>
              <a:t>Hybrid approach not yet implemented</a:t>
            </a:r>
          </a:p>
        </p:txBody>
      </p:sp>
    </p:spTree>
    <p:extLst>
      <p:ext uri="{BB962C8B-B14F-4D97-AF65-F5344CB8AC3E}">
        <p14:creationId xmlns:p14="http://schemas.microsoft.com/office/powerpoint/2010/main" val="29514504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9AC69-E699-1EED-1DF7-3A03363D3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C1B26-465D-78F1-06EB-78E940A95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2F0C9D"/>
                </a:solidFill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5A83E-E109-8530-8985-B4A210CAC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F0C9D"/>
                </a:solidFill>
              </a:rPr>
              <a:t>End-to-end production-oriented pipeline</a:t>
            </a:r>
          </a:p>
          <a:p>
            <a:pPr marL="514350" indent="-457200"/>
            <a:r>
              <a:rPr lang="en-US" sz="1600" dirty="0"/>
              <a:t>Multiple modelling paradigms</a:t>
            </a:r>
          </a:p>
          <a:p>
            <a:pPr marL="514350" indent="-457200"/>
            <a:r>
              <a:rPr lang="en-US" altLang="zh-CN" sz="1600" dirty="0"/>
              <a:t>Robust MLOps</a:t>
            </a:r>
          </a:p>
          <a:p>
            <a:pPr marL="514350" indent="-457200"/>
            <a:r>
              <a:rPr lang="en-US" sz="1600" dirty="0"/>
              <a:t>Local hosting</a:t>
            </a:r>
            <a:r>
              <a:rPr lang="zh-CN" altLang="en-US" sz="1600" dirty="0"/>
              <a:t> </a:t>
            </a:r>
            <a:r>
              <a:rPr lang="en-US" altLang="zh-CN" sz="1600" dirty="0"/>
              <a:t>&amp;</a:t>
            </a:r>
            <a:r>
              <a:rPr lang="zh-CN" altLang="en-US" sz="1600" dirty="0"/>
              <a:t> </a:t>
            </a:r>
            <a:r>
              <a:rPr lang="en-US" sz="1600" dirty="0"/>
              <a:t>serving</a:t>
            </a:r>
          </a:p>
          <a:p>
            <a:pPr marL="514350" indent="-457200"/>
            <a:r>
              <a:rPr lang="en-US" sz="1600" dirty="0"/>
              <a:t>Interactive visualization and monitoring</a:t>
            </a:r>
          </a:p>
          <a:p>
            <a:pPr marL="514350" indent="-457200"/>
            <a:r>
              <a:rPr lang="en-US" sz="1600" dirty="0"/>
              <a:t>Well-defined trade-offs and assumptions</a:t>
            </a:r>
          </a:p>
        </p:txBody>
      </p:sp>
    </p:spTree>
    <p:extLst>
      <p:ext uri="{BB962C8B-B14F-4D97-AF65-F5344CB8AC3E}">
        <p14:creationId xmlns:p14="http://schemas.microsoft.com/office/powerpoint/2010/main" val="2376502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540</Words>
  <Application>Microsoft Macintosh PowerPoint</Application>
  <PresentationFormat>On-screen Show (4:3)</PresentationFormat>
  <Paragraphs>140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Office Theme</vt:lpstr>
      <vt:lpstr>Text Sentiment Classification Pipeline</vt:lpstr>
      <vt:lpstr>OBJECTIVE</vt:lpstr>
      <vt:lpstr>CONSULTANT PERSPECTIVE</vt:lpstr>
      <vt:lpstr>CONSULTANT PERSPECTIVE</vt:lpstr>
      <vt:lpstr>CONSULTANT PERSPECTIVE</vt:lpstr>
      <vt:lpstr>Architecture Design</vt:lpstr>
      <vt:lpstr>Architecture Design</vt:lpstr>
      <vt:lpstr>Project Structure</vt:lpstr>
      <vt:lpstr>Data</vt:lpstr>
      <vt:lpstr>Modelling</vt:lpstr>
      <vt:lpstr>Traditional ML</vt:lpstr>
      <vt:lpstr>Open-source LLM</vt:lpstr>
      <vt:lpstr>Model Comparison</vt:lpstr>
      <vt:lpstr>Evaluation Strategy</vt:lpstr>
      <vt:lpstr>MLOps</vt:lpstr>
      <vt:lpstr>Pipeline Orchestration</vt:lpstr>
      <vt:lpstr>Model Serving</vt:lpstr>
      <vt:lpstr>Visualization &amp; Monitoring</vt:lpstr>
      <vt:lpstr>Limitations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Wennan Shi</cp:lastModifiedBy>
  <cp:revision>17</cp:revision>
  <dcterms:created xsi:type="dcterms:W3CDTF">2013-01-27T09:14:16Z</dcterms:created>
  <dcterms:modified xsi:type="dcterms:W3CDTF">2026-02-04T01:18:31Z</dcterms:modified>
  <cp:category/>
</cp:coreProperties>
</file>